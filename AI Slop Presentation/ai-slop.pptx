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— ~30 seconds</a:t>
            </a:r>
          </a:p>
          <a:p/>
          <a:p>
            <a:r>
              <a:t>June 4, 1996. Ariane 5 Flight 501 launches from Kourou.</a:t>
            </a:r>
          </a:p>
          <a:p>
            <a:r>
              <a:t>Thirty-seven seconds later, it has lost guidance and the launcher breaks up.</a:t>
            </a:r>
          </a:p>
          <a:p/>
          <a:p>
            <a:r>
              <a:t>The headline is often reduced to “a $370 million bug” or “one line of code.”</a:t>
            </a:r>
          </a:p>
          <a:p>
            <a:r>
              <a:t>That is memorable—but technically incomplete.</a:t>
            </a:r>
          </a:p>
          <a:p/>
          <a:p>
            <a:r>
              <a:t>The real story is a chain: reused software, a different flight profile,</a:t>
            </a:r>
          </a:p>
          <a:p>
            <a:r>
              <a:t>an arithmetic overflow, inadequate exception handling, and a guidance-system failure.</a:t>
            </a:r>
          </a:p>
          <a:p/>
          <a:p>
            <a:r>
              <a:t>This is the story of what happens when code meets physics.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seconds</a:t>
            </a:r>
          </a:p>
          <a:p/>
          <a:p>
            <a:r>
              <a:t>Ariane 4 had a long record of successful flights.</a:t>
            </a:r>
          </a:p>
          <a:p>
            <a:r>
              <a:t>Its inertial reference software was therefore familiar, proven, and reusable.</a:t>
            </a:r>
          </a:p>
          <a:p/>
          <a:p>
            <a:r>
              <a:t>But Ariane 5 was not simply Ariane 4 with more power.</a:t>
            </a:r>
          </a:p>
          <a:p>
            <a:r>
              <a:t>Its flight dynamics were substantially different.</a:t>
            </a:r>
          </a:p>
          <a:p/>
          <a:p>
            <a:r>
              <a:t>Part of the inherited software remained active even though its rapid</a:t>
            </a:r>
          </a:p>
          <a:p>
            <a:r>
              <a:t>re-alignment function was not needed for Ariane 5's mission.</a:t>
            </a:r>
          </a:p>
          <a:p/>
          <a:p>
            <a:r>
              <a:t>The dangerous assumption was not “reuse is bad.”</a:t>
            </a:r>
          </a:p>
          <a:p>
            <a:r>
              <a:t>It was that software proven in one operating envelope would remain safe</a:t>
            </a:r>
          </a:p>
          <a:p>
            <a:r>
              <a:t>in another without the same analysis and qualification.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~35 seconds</a:t>
            </a:r>
          </a:p>
          <a:p/>
          <a:p>
            <a:r>
              <a:t>Ariane 5's trajectory produced a much larger horizontal velocity than</a:t>
            </a:r>
          </a:p>
          <a:p>
            <a:r>
              <a:t>the inherited software had encountered on Ariane 4.</a:t>
            </a:r>
          </a:p>
          <a:p/>
          <a:p>
            <a:r>
              <a:t>A 64-bit floating-point value was converted to a 16-bit signed integer</a:t>
            </a:r>
          </a:p>
          <a:p>
            <a:r>
              <a:t>inside the inertial reference system's software.</a:t>
            </a:r>
          </a:p>
          <a:p/>
          <a:p>
            <a:r>
              <a:t>A signed 16-bit integer can represent only a limited range.</a:t>
            </a:r>
          </a:p>
          <a:p>
            <a:r>
              <a:t>The value exceeded that range.</a:t>
            </a:r>
          </a:p>
          <a:p/>
          <a:p>
            <a:r>
              <a:t>The key engineering lesson is not “integers are dangerous.”</a:t>
            </a:r>
          </a:p>
          <a:p>
            <a:r>
              <a:t>It is that numerical assumptions are part of a system's operating envelope—and</a:t>
            </a:r>
          </a:p>
          <a:p>
            <a:r>
              <a:t>that envelope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~35 seconds</a:t>
            </a:r>
          </a:p>
          <a:p/>
          <a:p>
            <a:r>
              <a:t>The conversion overflowed.</a:t>
            </a:r>
          </a:p>
          <a:p/>
          <a:p>
            <a:r>
              <a:t>The software detected the arithmetic exception, but the relevant handler</a:t>
            </a:r>
          </a:p>
          <a:p>
            <a:r>
              <a:t>did not provide a recovery path for this condition. The inertial reference</a:t>
            </a:r>
          </a:p>
          <a:p>
            <a:r>
              <a:t>system shut down.</a:t>
            </a:r>
          </a:p>
          <a:p/>
          <a:p>
            <a:r>
              <a:t>Ariane 5 had redundant inertial reference systems—but both ran the same</a:t>
            </a:r>
          </a:p>
          <a:p>
            <a:r>
              <a:t>software and encountered the same failure condition within milliseconds.</a:t>
            </a:r>
          </a:p>
          <a:p/>
          <a:p>
            <a:r>
              <a:t>The redundancy therefore did not protect against a common software defect.</a:t>
            </a:r>
          </a:p>
          <a:p/>
          <a:p>
            <a:r>
              <a:t>The onboard computer then received diagnostic data and interpreted it as</a:t>
            </a:r>
          </a:p>
          <a:p>
            <a:r>
              <a:t>valid guidance information. The control commands drove the vehicle sharply</a:t>
            </a:r>
          </a:p>
          <a:p>
            <a:r>
              <a:t>off its intended trajectory.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~35 seconds</a:t>
            </a:r>
          </a:p>
          <a:p/>
          <a:p>
            <a:r>
              <a:t>For roughly the first 36 seconds, the flight was nominal.</a:t>
            </a:r>
          </a:p>
          <a:p/>
          <a:p>
            <a:r>
              <a:t>At about 37 seconds, the inertial reference systems failed.</a:t>
            </a:r>
          </a:p>
          <a:p>
            <a:r>
              <a:t>The resulting control commands sent the launcher sharply away from its</a:t>
            </a:r>
          </a:p>
          <a:p>
            <a:r>
              <a:t>intended flight path.</a:t>
            </a:r>
          </a:p>
          <a:p/>
          <a:p>
            <a:r>
              <a:t>Aerodynamic loads then caused the vehicle to break up.</a:t>
            </a:r>
          </a:p>
          <a:p>
            <a:r>
              <a:t>Its flight termination system correctly destroyed the launcher after</a:t>
            </a:r>
          </a:p>
          <a:p>
            <a:r>
              <a:t>loss of structural integrity.</a:t>
            </a:r>
          </a:p>
          <a:p/>
          <a:p>
            <a:r>
              <a:t>So the rocket did not simply “explode because of an integer.”</a:t>
            </a:r>
          </a:p>
          <a:p>
            <a:r>
              <a:t>The overflow initiated a chain of failures that reached the physical vehicle.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seconds</a:t>
            </a:r>
          </a:p>
          <a:p/>
          <a:p>
            <a:r>
              <a:t>The payload was ESA's four-spacecraft Cluster mission, intended to study</a:t>
            </a:r>
          </a:p>
          <a:p>
            <a:r>
              <a:t>Earth's magnetosphere.</a:t>
            </a:r>
          </a:p>
          <a:p/>
          <a:p>
            <a:r>
              <a:t>The loss was widely reported at more than 370 million US dollars.</a:t>
            </a:r>
          </a:p>
          <a:p/>
          <a:p>
            <a:r>
              <a:t>But the investigation's most important conclusion was broader than the</a:t>
            </a:r>
          </a:p>
          <a:p>
            <a:r>
              <a:t>arithmetic error: the development process had not adequately analyzed and</a:t>
            </a:r>
          </a:p>
          <a:p>
            <a:r>
              <a:t>tested the inertial reference software in the Ariane 5 flight environment.</a:t>
            </a:r>
          </a:p>
          <a:p/>
          <a:p>
            <a:r>
              <a:t>The lesson moved from “fix this bug” to “change how safety-critical software</a:t>
            </a:r>
          </a:p>
          <a:p>
            <a:r>
              <a:t>is qualified, reviewed, and tested.”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seconds</a:t>
            </a:r>
          </a:p>
          <a:p/>
          <a:p>
            <a:r>
              <a:t>Software reuse can save engineering time and reduce duplicated work.</a:t>
            </a:r>
          </a:p>
          <a:p>
            <a:r>
              <a:t>But reuse also imports assumptions.</a:t>
            </a:r>
          </a:p>
          <a:p/>
          <a:p>
            <a:r>
              <a:t>The practical lesson is to test the new operating envelope, verify</a:t>
            </a:r>
          </a:p>
          <a:p>
            <a:r>
              <a:t>boundary conditions, and explicitly review assumptions that were valid</a:t>
            </a:r>
          </a:p>
          <a:p>
            <a:r>
              <a:t>in the old system.</a:t>
            </a:r>
          </a:p>
          <a:p/>
          <a:p>
            <a:r>
              <a:t>For safety-critical systems, “it worked before” is evidence—not proof</a:t>
            </a:r>
          </a:p>
          <a:p>
            <a:r>
              <a:t>that it works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seconds</a:t>
            </a:r>
          </a:p>
          <a:p/>
          <a:p>
            <a:r>
              <a:t>Modern engineering turns the lesson into a workflow.</a:t>
            </a:r>
          </a:p>
          <a:p/>
          <a:p>
            <a:r>
              <a:t>Test nominal behavior, but also test the edges.</a:t>
            </a:r>
          </a:p>
          <a:p>
            <a:r>
              <a:t>Use static analysis to find impossible or dangerous conversions.</a:t>
            </a:r>
          </a:p>
          <a:p>
            <a:r>
              <a:t>Inject faults deliberately.</a:t>
            </a:r>
          </a:p>
          <a:p>
            <a:r>
              <a:t>Run simulations under the actual mission envelope.</a:t>
            </a:r>
          </a:p>
          <a:p>
            <a:r>
              <a:t>Instrument systems so that failures become diagnosable.</a:t>
            </a:r>
          </a:p>
          <a:p/>
          <a:p>
            <a:r>
              <a:t>And most importantly, define what “safe failure” means before the system</a:t>
            </a:r>
          </a:p>
          <a:p>
            <a:r>
              <a:t>is under stress.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seconds</a:t>
            </a:r>
          </a:p>
          <a:p/>
          <a:p>
            <a:r>
              <a:t>Ariane 5 Flight 501 is remembered because the failure looks absurd in</a:t>
            </a:r>
          </a:p>
          <a:p>
            <a:r>
              <a:t>hindsight: an arithmetic overflow inside old software contributed to the</a:t>
            </a:r>
          </a:p>
          <a:p>
            <a:r>
              <a:t>loss of a new rocket.</a:t>
            </a:r>
          </a:p>
          <a:p/>
          <a:p>
            <a:r>
              <a:t>But the deeper lesson is not about one integer.</a:t>
            </a:r>
          </a:p>
          <a:p/>
          <a:p>
            <a:r>
              <a:t>It is about interfaces between code and reality.</a:t>
            </a:r>
          </a:p>
          <a:p>
            <a:r>
              <a:t>When assumptions cross those interfaces, they need evidence.</a:t>
            </a:r>
          </a:p>
          <a:p/>
          <a:p>
            <a:r>
              <a:t>The future belongs to engineers who test those assumptions before reality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aun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228600"/>
            <a:ext cx="11567160" cy="6309360"/>
          </a:xfrm>
          <a:prstGeom prst="roundRect">
            <a:avLst/>
          </a:prstGeom>
          <a:solidFill>
            <a:srgbClr val="020510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9123"/>
                </a:solidFill>
                <a:latin typeface="Aptos"/>
              </a:rPr>
              <a:t>ARIANE 5 • FLIGHT 501 • 1996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052560" cy="7498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F5FAFF"/>
                </a:solidFill>
                <a:latin typeface="Aptos Display"/>
                <a:glow rad="60000">
                  <a:srgbClr val="00E1FF"/>
                </a:glow>
              </a:rPr>
              <a:t>THE $370 MILLION
LINE OF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43584"/>
            <a:ext cx="786384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9123"/>
                </a:solidFill>
                <a:latin typeface="Aptos"/>
              </a:rPr>
              <a:t>37 seconds that changed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B4CDE1"/>
                </a:solidFill>
                <a:latin typeface="Aptos"/>
              </a:rPr>
              <a:t>01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2103120" cy="32004"/>
          </a:xfrm>
          <a:prstGeom prst="rect">
            <a:avLst/>
          </a:prstGeom>
          <a:solidFill>
            <a:srgbClr val="FF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993392"/>
            <a:ext cx="1417320" cy="329184"/>
          </a:xfrm>
          <a:prstGeom prst="roundRect">
            <a:avLst/>
          </a:prstGeom>
          <a:solidFill>
            <a:srgbClr val="050A1C"/>
          </a:solidFill>
          <a:ln w="15240">
            <a:solidFill>
              <a:srgbClr val="F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02536"/>
            <a:ext cx="1307592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9123"/>
                </a:solidFill>
                <a:latin typeface="Aptos"/>
              </a:rPr>
              <a:t>$370M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84831" y="1993392"/>
            <a:ext cx="1874519" cy="329184"/>
          </a:xfrm>
          <a:prstGeom prst="roundRect">
            <a:avLst/>
          </a:prstGeom>
          <a:solidFill>
            <a:srgbClr val="050A1C"/>
          </a:solidFill>
          <a:ln w="15240">
            <a:solidFill>
              <a:srgbClr val="FF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9696" y="2002536"/>
            <a:ext cx="1764791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2D41"/>
                </a:solidFill>
                <a:latin typeface="Aptos"/>
              </a:rPr>
              <a:t>37 SECONDS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78224" y="1993392"/>
            <a:ext cx="1508760" cy="329184"/>
          </a:xfrm>
          <a:prstGeom prst="roundRect">
            <a:avLst/>
          </a:prstGeom>
          <a:solidFill>
            <a:srgbClr val="050A1C"/>
          </a:solidFill>
          <a:ln w="1524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3087" y="2002536"/>
            <a:ext cx="1399031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00E1FF"/>
                </a:solidFill>
                <a:latin typeface="Aptos"/>
              </a:rPr>
              <a:t>V88 / 501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321808"/>
            <a:ext cx="5074920" cy="731520"/>
          </a:xfrm>
          <a:prstGeom prst="roundRect">
            <a:avLst/>
          </a:prstGeom>
          <a:solidFill>
            <a:srgbClr val="020510"/>
          </a:solidFill>
          <a:ln w="15240">
            <a:solidFill>
              <a:srgbClr val="F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04104"/>
            <a:ext cx="4709160" cy="56692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9123"/>
                </a:solidFill>
                <a:latin typeface="Aptos Display"/>
              </a:rPr>
              <a:t>NOT A SINGLE LINE.
A CHAIN OF FAILURES.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4087368"/>
            <a:ext cx="4718304" cy="1627632"/>
          </a:xfrm>
          <a:prstGeom prst="roundRect">
            <a:avLst/>
          </a:prstGeom>
          <a:solidFill>
            <a:srgbClr val="030714"/>
          </a:solidFill>
          <a:ln w="15240">
            <a:solidFill>
              <a:srgbClr val="F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160520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9123"/>
                </a:solidFill>
                <a:latin typeface="Aptos Display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4142232"/>
            <a:ext cx="431596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A system failure—not one 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599431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9123"/>
                </a:solidFill>
                <a:latin typeface="Aptos Display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4581144"/>
            <a:ext cx="431596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Reuse met a new flight profile.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5038344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9123"/>
                </a:solidFill>
                <a:latin typeface="Aptos Display"/>
              </a:rPr>
              <a:t>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5020056"/>
            <a:ext cx="431596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Code reached the real world.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37960"/>
            <a:ext cx="27432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B4CDE1"/>
                </a:solidFill>
                <a:latin typeface="Aptos"/>
              </a:rPr>
              <a:t>WHEN CODE MEETS DESTINY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537960"/>
            <a:ext cx="52578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750" b="0">
                <a:solidFill>
                  <a:srgbClr val="B4CDE1"/>
                </a:solidFill>
                <a:latin typeface="Aptos"/>
              </a:rPr>
              <a:t>Source: ESA/CNES Ariane 501 Inquiry Board • 23 Jul 1996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ransf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228600"/>
            <a:ext cx="11567160" cy="6309360"/>
          </a:xfrm>
          <a:prstGeom prst="roundRect">
            <a:avLst/>
          </a:prstGeom>
          <a:solidFill>
            <a:srgbClr val="020510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0E1FF"/>
                </a:solidFill>
                <a:latin typeface="Aptos"/>
              </a:rPr>
              <a:t>01 • REUSE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052560" cy="7498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F5FAFF"/>
                </a:solidFill>
                <a:latin typeface="Aptos Display"/>
                <a:glow rad="60000">
                  <a:srgbClr val="00E1FF"/>
                </a:glow>
              </a:rPr>
              <a:t>REUSE SAVED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43584"/>
            <a:ext cx="786384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00E1FF"/>
                </a:solidFill>
                <a:latin typeface="Aptos"/>
              </a:rPr>
              <a:t>Until the rocket 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B4CDE1"/>
                </a:solidFill>
                <a:latin typeface="Aptos"/>
              </a:rPr>
              <a:t>02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2103120" cy="32004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993392"/>
            <a:ext cx="1417320" cy="329184"/>
          </a:xfrm>
          <a:prstGeom prst="roundRect">
            <a:avLst/>
          </a:prstGeom>
          <a:solidFill>
            <a:srgbClr val="050A1C"/>
          </a:solidFill>
          <a:ln w="1524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002536"/>
            <a:ext cx="1307592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0E1FF"/>
                </a:solidFill>
                <a:latin typeface="Aptos"/>
              </a:rPr>
              <a:t>ARIANE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85232" y="1993392"/>
            <a:ext cx="1234440" cy="329184"/>
          </a:xfrm>
          <a:prstGeom prst="roundRect">
            <a:avLst/>
          </a:prstGeom>
          <a:solidFill>
            <a:srgbClr val="050A1C"/>
          </a:solidFill>
          <a:ln w="15240">
            <a:solidFill>
              <a:srgbClr val="FF2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0096" y="2002536"/>
            <a:ext cx="1124712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23AA"/>
                </a:solidFill>
                <a:latin typeface="Aptos"/>
              </a:rPr>
              <a:t>REUSE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993392"/>
            <a:ext cx="1417320" cy="329184"/>
          </a:xfrm>
          <a:prstGeom prst="roundRect">
            <a:avLst/>
          </a:prstGeom>
          <a:solidFill>
            <a:srgbClr val="050A1C"/>
          </a:solidFill>
          <a:ln w="15240">
            <a:solidFill>
              <a:srgbClr val="F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76104" y="2002536"/>
            <a:ext cx="1307592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9123"/>
                </a:solidFill>
                <a:latin typeface="Aptos"/>
              </a:rPr>
              <a:t>ARIANE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377440"/>
            <a:ext cx="4297680" cy="5486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F5FAFF"/>
                </a:solidFill>
                <a:latin typeface="Aptos Display"/>
                <a:glow rad="60000">
                  <a:srgbClr val="00E1FF"/>
                </a:glow>
              </a:rPr>
              <a:t>CODE  → 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22008" y="4087368"/>
            <a:ext cx="4398264" cy="1627632"/>
          </a:xfrm>
          <a:prstGeom prst="roundRect">
            <a:avLst/>
          </a:prstGeom>
          <a:solidFill>
            <a:srgbClr val="030714"/>
          </a:solidFill>
          <a:ln w="1524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4160520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0E1FF"/>
                </a:solidFill>
                <a:latin typeface="Aptos Display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192" y="4142232"/>
            <a:ext cx="399592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Ariane 4 software was reused.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599431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0E1FF"/>
                </a:solidFill>
                <a:latin typeface="Aptos Display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4581144"/>
            <a:ext cx="399592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Ariane 5 flew differently.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5038344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0E1FF"/>
                </a:solidFill>
                <a:latin typeface="Aptos Display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5020056"/>
            <a:ext cx="399592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The assumption survived the migration.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37960"/>
            <a:ext cx="27432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B4CDE1"/>
                </a:solidFill>
                <a:latin typeface="Aptos"/>
              </a:rPr>
              <a:t>WHEN CODE MEETS DESTINY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37960"/>
            <a:ext cx="52578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750" b="0">
                <a:solidFill>
                  <a:srgbClr val="B4CDE1"/>
                </a:solidFill>
                <a:latin typeface="Aptos"/>
              </a:rPr>
              <a:t>Source: ESA/CNES Inquiry Board • ESA Software Product Assurance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ynam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228600"/>
            <a:ext cx="11567160" cy="6309360"/>
          </a:xfrm>
          <a:prstGeom prst="roundRect">
            <a:avLst/>
          </a:prstGeom>
          <a:solidFill>
            <a:srgbClr val="020510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4682FF"/>
                </a:solidFill>
                <a:latin typeface="Aptos"/>
              </a:rPr>
              <a:t>02 •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052560" cy="7498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F5FAFF"/>
                </a:solidFill>
                <a:latin typeface="Aptos Display"/>
                <a:glow rad="60000">
                  <a:srgbClr val="00E1FF"/>
                </a:glow>
              </a:rPr>
              <a:t>THE ROCKET 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43584"/>
            <a:ext cx="786384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4682FF"/>
                </a:solidFill>
                <a:latin typeface="Aptos"/>
              </a:rPr>
              <a:t>The software didn't.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B4CDE1"/>
                </a:solidFill>
                <a:latin typeface="Aptos"/>
              </a:rPr>
              <a:t>03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2103120" cy="32004"/>
          </a:xfrm>
          <a:prstGeom prst="rect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993392"/>
            <a:ext cx="1371600" cy="329184"/>
          </a:xfrm>
          <a:prstGeom prst="roundRect">
            <a:avLst/>
          </a:prstGeom>
          <a:solidFill>
            <a:srgbClr val="050A1C"/>
          </a:solidFill>
          <a:ln w="15240">
            <a:solidFill>
              <a:srgbClr val="46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002536"/>
            <a:ext cx="1261872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4682FF"/>
                </a:solidFill>
                <a:latin typeface="Aptos"/>
              </a:rPr>
              <a:t>VELOCITY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1993392"/>
            <a:ext cx="1874519" cy="329184"/>
          </a:xfrm>
          <a:prstGeom prst="roundRect">
            <a:avLst/>
          </a:prstGeom>
          <a:solidFill>
            <a:srgbClr val="050A1C"/>
          </a:solidFill>
          <a:ln w="15240">
            <a:solidFill>
              <a:srgbClr val="FF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03704" y="2002536"/>
            <a:ext cx="1764791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2D41"/>
                </a:solidFill>
                <a:latin typeface="Aptos"/>
              </a:rPr>
              <a:t>16-BIT SIGNED 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1993392"/>
            <a:ext cx="1645920" cy="329184"/>
          </a:xfrm>
          <a:prstGeom prst="roundRect">
            <a:avLst/>
          </a:prstGeom>
          <a:solidFill>
            <a:srgbClr val="050A1C"/>
          </a:solidFill>
          <a:ln w="15240">
            <a:solidFill>
              <a:srgbClr val="F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2816" y="2002536"/>
            <a:ext cx="1536192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9123"/>
                </a:solidFill>
                <a:latin typeface="Aptos"/>
              </a:rPr>
              <a:t>DESIGN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880360"/>
            <a:ext cx="1005840" cy="5943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3800" b="1">
                <a:solidFill>
                  <a:srgbClr val="00E1FF"/>
                </a:solidFill>
                <a:latin typeface="Aptos Display"/>
                <a:glow rad="60000">
                  <a:srgbClr val="00E1FF"/>
                </a:glow>
              </a:rPr>
              <a:t>v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651760"/>
            <a:ext cx="3977639" cy="6583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3100" b="1">
                <a:solidFill>
                  <a:srgbClr val="FF2D41"/>
                </a:solidFill>
                <a:latin typeface="Aptos Display"/>
                <a:glow rad="60000">
                  <a:srgbClr val="00E1FF"/>
                </a:glow>
              </a:rPr>
              <a:t>OVERFLOW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4544568"/>
            <a:ext cx="5038344" cy="1563624"/>
          </a:xfrm>
          <a:prstGeom prst="roundRect">
            <a:avLst/>
          </a:prstGeom>
          <a:solidFill>
            <a:srgbClr val="030714"/>
          </a:solidFill>
          <a:ln w="15240">
            <a:solidFill>
              <a:srgbClr val="46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617720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4682FF"/>
                </a:solidFill>
                <a:latin typeface="Aptos Display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9432"/>
            <a:ext cx="4636007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Horizontal velocity rose faster.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056631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4682FF"/>
                </a:solidFill>
                <a:latin typeface="Aptos Display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38344"/>
            <a:ext cx="4636007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A 16-bit conversion had limits.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495544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4682FF"/>
                </a:solidFill>
                <a:latin typeface="Aptos Display"/>
              </a:rPr>
              <a:t>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77256"/>
            <a:ext cx="4636007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The boundary was never exercised.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37960"/>
            <a:ext cx="27432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B4CDE1"/>
                </a:solidFill>
                <a:latin typeface="Aptos"/>
              </a:rPr>
              <a:t>WHEN CODE MEETS DESTINY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537960"/>
            <a:ext cx="52578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750" b="0">
                <a:solidFill>
                  <a:srgbClr val="B4CDE1"/>
                </a:solidFill>
                <a:latin typeface="Aptos"/>
              </a:rPr>
              <a:t>Source: ESA/CNES Inquiry Board • technical postmortem summaries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excep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228600"/>
            <a:ext cx="11567160" cy="6309360"/>
          </a:xfrm>
          <a:prstGeom prst="roundRect">
            <a:avLst/>
          </a:prstGeom>
          <a:solidFill>
            <a:srgbClr val="020510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2D41"/>
                </a:solidFill>
                <a:latin typeface="Aptos"/>
              </a:rPr>
              <a:t>03 •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052560" cy="7498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F5FAFF"/>
                </a:solidFill>
                <a:latin typeface="Aptos Display"/>
                <a:glow rad="60000">
                  <a:srgbClr val="00E1FF"/>
                </a:glow>
              </a:rPr>
              <a:t>THE OVERFLOW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43584"/>
            <a:ext cx="786384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2D41"/>
                </a:solidFill>
                <a:latin typeface="Aptos"/>
              </a:rPr>
              <a:t>The number became impossible.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B4CDE1"/>
                </a:solidFill>
                <a:latin typeface="Aptos"/>
              </a:rPr>
              <a:t>04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2103120" cy="32004"/>
          </a:xfrm>
          <a:prstGeom prst="rect">
            <a:avLst/>
          </a:prstGeom>
          <a:solidFill>
            <a:srgbClr val="F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057400"/>
            <a:ext cx="4892040" cy="7315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3800" b="1">
                <a:solidFill>
                  <a:srgbClr val="FF2D41"/>
                </a:solidFill>
                <a:latin typeface="Aptos Display"/>
                <a:glow rad="60000">
                  <a:srgbClr val="00E1FF"/>
                </a:glow>
              </a:rPr>
              <a:t>EXCEPTION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2880360"/>
            <a:ext cx="3794760" cy="329184"/>
          </a:xfrm>
          <a:prstGeom prst="roundRect">
            <a:avLst/>
          </a:prstGeom>
          <a:solidFill>
            <a:srgbClr val="050A1C"/>
          </a:solidFill>
          <a:ln w="15240">
            <a:solidFill>
              <a:srgbClr val="FF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2903" y="2889503"/>
            <a:ext cx="3685032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2D41"/>
                </a:solidFill>
                <a:latin typeface="Aptos"/>
              </a:rPr>
              <a:t>NO HANDLER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3337560"/>
            <a:ext cx="3794760" cy="329184"/>
          </a:xfrm>
          <a:prstGeom prst="roundRect">
            <a:avLst/>
          </a:prstGeom>
          <a:solidFill>
            <a:srgbClr val="050A1C"/>
          </a:solidFill>
          <a:ln w="15240">
            <a:solidFill>
              <a:srgbClr val="F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3" y="3346703"/>
            <a:ext cx="3685032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9123"/>
                </a:solidFill>
                <a:latin typeface="Aptos"/>
              </a:rPr>
              <a:t>GUIDANCE LOST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" y="4242816"/>
            <a:ext cx="4855464" cy="1627632"/>
          </a:xfrm>
          <a:prstGeom prst="roundRect">
            <a:avLst/>
          </a:prstGeom>
          <a:solidFill>
            <a:srgbClr val="030714"/>
          </a:solidFill>
          <a:ln w="15240">
            <a:solidFill>
              <a:srgbClr val="FF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315968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2D41"/>
                </a:solidFill>
                <a:latin typeface="Aptos Display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445312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Overflow triggered an exception.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754879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2D41"/>
                </a:solidFill>
                <a:latin typeface="Aptos Display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36592"/>
            <a:ext cx="445312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The handler did not recover.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193792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2D41"/>
                </a:solidFill>
                <a:latin typeface="Aptos Display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75504"/>
            <a:ext cx="445312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Both inertial systems failed.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37960"/>
            <a:ext cx="27432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B4CDE1"/>
                </a:solidFill>
                <a:latin typeface="Aptos"/>
              </a:rPr>
              <a:t>WHEN CODE MEETS DESTINY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537960"/>
            <a:ext cx="52578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750" b="0">
                <a:solidFill>
                  <a:srgbClr val="B4CDE1"/>
                </a:solidFill>
                <a:latin typeface="Aptos"/>
              </a:rPr>
              <a:t>Source: ESA/CNES Ariane 501 Inquiry Board • 23 Jul 1996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atastrop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228600"/>
            <a:ext cx="11567160" cy="6309360"/>
          </a:xfrm>
          <a:prstGeom prst="roundRect">
            <a:avLst/>
          </a:prstGeom>
          <a:solidFill>
            <a:srgbClr val="020510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9123"/>
                </a:solidFill>
                <a:latin typeface="Aptos"/>
              </a:rPr>
              <a:t>04 • CASCADE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052560" cy="7498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F5FAFF"/>
                </a:solidFill>
                <a:latin typeface="Aptos Display"/>
                <a:glow rad="60000">
                  <a:srgbClr val="00E1FF"/>
                </a:glow>
              </a:rPr>
              <a:t>37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43584"/>
            <a:ext cx="786384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9123"/>
                </a:solidFill>
                <a:latin typeface="Aptos"/>
              </a:rPr>
              <a:t>From launch to destruction.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B4CDE1"/>
                </a:solidFill>
                <a:latin typeface="Aptos"/>
              </a:rPr>
              <a:t>05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2103120" cy="32004"/>
          </a:xfrm>
          <a:prstGeom prst="rect">
            <a:avLst/>
          </a:prstGeom>
          <a:solidFill>
            <a:srgbClr val="FF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84831"/>
            <a:ext cx="10744200" cy="146304"/>
          </a:xfrm>
          <a:prstGeom prst="rect">
            <a:avLst/>
          </a:prstGeom>
          <a:solidFill>
            <a:srgbClr val="5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86868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00E1FF"/>
                </a:solidFill>
                <a:latin typeface="Aptos Display"/>
              </a:rPr>
              <a:t>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95728"/>
            <a:ext cx="150876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Aptos"/>
              </a:rPr>
              <a:t>LAUNCH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" y="1984248"/>
            <a:ext cx="274320" cy="27432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1828800"/>
            <a:ext cx="86868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2D41"/>
                </a:solidFill>
                <a:latin typeface="Aptos Display"/>
              </a:rPr>
              <a:t>≈37s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395728"/>
            <a:ext cx="150876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Aptos"/>
              </a:rPr>
              <a:t>GUIDANCE LOST</a:t>
            </a:r>
          </a:p>
        </p:txBody>
      </p:sp>
      <p:sp>
        <p:nvSpPr>
          <p:cNvPr id="15" name="Oval 14"/>
          <p:cNvSpPr/>
          <p:nvPr/>
        </p:nvSpPr>
        <p:spPr>
          <a:xfrm>
            <a:off x="5824728" y="1984248"/>
            <a:ext cx="274320" cy="274320"/>
          </a:xfrm>
          <a:prstGeom prst="ellipse">
            <a:avLst/>
          </a:prstGeom>
          <a:solidFill>
            <a:srgbClr val="FF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86868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9123"/>
                </a:solidFill>
                <a:latin typeface="Aptos Display"/>
              </a:rPr>
              <a:t>≈39s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95728"/>
            <a:ext cx="150876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Aptos"/>
              </a:rPr>
              <a:t>BREAKUP</a:t>
            </a:r>
          </a:p>
        </p:txBody>
      </p:sp>
      <p:sp>
        <p:nvSpPr>
          <p:cNvPr id="18" name="Oval 17"/>
          <p:cNvSpPr/>
          <p:nvPr/>
        </p:nvSpPr>
        <p:spPr>
          <a:xfrm>
            <a:off x="8430768" y="1984248"/>
            <a:ext cx="274320" cy="274320"/>
          </a:xfrm>
          <a:prstGeom prst="ellipse">
            <a:avLst/>
          </a:prstGeom>
          <a:solidFill>
            <a:srgbClr val="FF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4617720"/>
            <a:ext cx="2468880" cy="5943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3400" b="1">
                <a:solidFill>
                  <a:srgbClr val="FF2D41"/>
                </a:solidFill>
                <a:latin typeface="Aptos Display"/>
                <a:glow rad="60000">
                  <a:srgbClr val="00E1FF"/>
                </a:glow>
              </a:rPr>
              <a:t>ERROR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" y="4498848"/>
            <a:ext cx="5907024" cy="1563624"/>
          </a:xfrm>
          <a:prstGeom prst="roundRect">
            <a:avLst/>
          </a:prstGeom>
          <a:solidFill>
            <a:srgbClr val="030714"/>
          </a:solidFill>
          <a:ln w="15240">
            <a:solidFill>
              <a:srgbClr val="F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572000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9123"/>
                </a:solidFill>
                <a:latin typeface="Aptos Display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53712"/>
            <a:ext cx="550468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0s — nominal launch.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010912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9123"/>
                </a:solidFill>
                <a:latin typeface="Aptos Display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92624"/>
            <a:ext cx="550468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≈37s — guidance information lost.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449824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9123"/>
                </a:solidFill>
                <a:latin typeface="Aptos Display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31536"/>
            <a:ext cx="550468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Seconds later — breakup &amp; self-destruct.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37960"/>
            <a:ext cx="27432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B4CDE1"/>
                </a:solidFill>
                <a:latin typeface="Aptos"/>
              </a:rPr>
              <a:t>WHEN CODE MEETS DESTINY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537960"/>
            <a:ext cx="52578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750" b="0">
                <a:solidFill>
                  <a:srgbClr val="B4CDE1"/>
                </a:solidFill>
                <a:latin typeface="Aptos"/>
              </a:rPr>
              <a:t>Source: ESA/CNES • Flight 501 first information &amp; Inquiry 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atastrop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228600"/>
            <a:ext cx="11567160" cy="6309360"/>
          </a:xfrm>
          <a:prstGeom prst="roundRect">
            <a:avLst/>
          </a:prstGeom>
          <a:solidFill>
            <a:srgbClr val="020510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23AA"/>
                </a:solidFill>
                <a:latin typeface="Aptos"/>
              </a:rPr>
              <a:t>05 • AFTERMATH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052560" cy="7498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F5FAFF"/>
                </a:solidFill>
                <a:latin typeface="Aptos Display"/>
                <a:glow rad="60000">
                  <a:srgbClr val="00E1FF"/>
                </a:glow>
              </a:rPr>
              <a:t>THE FIREBALL WAS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43584"/>
            <a:ext cx="786384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23AA"/>
                </a:solidFill>
                <a:latin typeface="Aptos"/>
              </a:rPr>
              <a:t>The software lesson was bigger.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B4CDE1"/>
                </a:solidFill>
                <a:latin typeface="Aptos"/>
              </a:rPr>
              <a:t>06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2103120" cy="32004"/>
          </a:xfrm>
          <a:prstGeom prst="rect">
            <a:avLst/>
          </a:prstGeom>
          <a:solidFill>
            <a:srgbClr val="FF2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2148840"/>
            <a:ext cx="4389120" cy="685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4200" b="1">
                <a:solidFill>
                  <a:srgbClr val="FF9123"/>
                </a:solidFill>
                <a:latin typeface="Aptos Display"/>
                <a:glow rad="60000">
                  <a:srgbClr val="00E1FF"/>
                </a:glow>
              </a:rPr>
              <a:t>~$370M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926080"/>
            <a:ext cx="3154680" cy="329184"/>
          </a:xfrm>
          <a:prstGeom prst="roundRect">
            <a:avLst/>
          </a:prstGeom>
          <a:solidFill>
            <a:srgbClr val="050A1C"/>
          </a:solidFill>
          <a:ln w="15240">
            <a:solidFill>
              <a:srgbClr val="FF2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98664" y="2935224"/>
            <a:ext cx="3044952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23AA"/>
                </a:solidFill>
                <a:latin typeface="Aptos"/>
              </a:rPr>
              <a:t>4 × CLUSTER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383280"/>
            <a:ext cx="3154680" cy="329184"/>
          </a:xfrm>
          <a:prstGeom prst="roundRect">
            <a:avLst/>
          </a:prstGeom>
          <a:solidFill>
            <a:srgbClr val="050A1C"/>
          </a:solidFill>
          <a:ln w="1524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98664" y="3392424"/>
            <a:ext cx="3044952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0E1FF"/>
                </a:solidFill>
                <a:latin typeface="Aptos"/>
              </a:rPr>
              <a:t>SYSTEM LESSON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" y="4297680"/>
            <a:ext cx="5769864" cy="1627632"/>
          </a:xfrm>
          <a:prstGeom prst="roundRect">
            <a:avLst/>
          </a:prstGeom>
          <a:solidFill>
            <a:srgbClr val="030714"/>
          </a:solidFill>
          <a:ln w="15240">
            <a:solidFill>
              <a:srgbClr val="FF2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370832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23AA"/>
                </a:solidFill>
                <a:latin typeface="Aptos Display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52544"/>
            <a:ext cx="536752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Four Cluster spacecraft were lost.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809744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23AA"/>
                </a:solidFill>
                <a:latin typeface="Aptos Display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91456"/>
            <a:ext cx="536752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~$370M of value was lost.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248656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23AA"/>
                </a:solidFill>
                <a:latin typeface="Aptos Display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30368"/>
            <a:ext cx="536752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The investigation exposed system gaps.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37960"/>
            <a:ext cx="27432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B4CDE1"/>
                </a:solidFill>
                <a:latin typeface="Aptos"/>
              </a:rPr>
              <a:t>WHEN CODE MEETS DESTINY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537960"/>
            <a:ext cx="52578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750" b="0">
                <a:solidFill>
                  <a:srgbClr val="B4CDE1"/>
                </a:solidFill>
                <a:latin typeface="Aptos"/>
              </a:rPr>
              <a:t>Source: ESA/CNES Inquiry Board • 23 Jul 1996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e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228600"/>
            <a:ext cx="11567160" cy="6309360"/>
          </a:xfrm>
          <a:prstGeom prst="roundRect">
            <a:avLst/>
          </a:prstGeom>
          <a:solidFill>
            <a:srgbClr val="020510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0E1FF"/>
                </a:solidFill>
                <a:latin typeface="Aptos"/>
              </a:rPr>
              <a:t>06 •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052560" cy="7498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F5FAFF"/>
                </a:solidFill>
                <a:latin typeface="Aptos Display"/>
                <a:glow rad="60000">
                  <a:srgbClr val="00E1FF"/>
                </a:glow>
              </a:rPr>
              <a:t>REUSE IS NOT 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43584"/>
            <a:ext cx="786384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00E1FF"/>
                </a:solidFill>
                <a:latin typeface="Aptos"/>
              </a:rPr>
              <a:t>Every assumption has a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B4CDE1"/>
                </a:solidFill>
                <a:latin typeface="Aptos"/>
              </a:rPr>
              <a:t>07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2103120" cy="32004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2103120"/>
            <a:ext cx="2880360" cy="1325880"/>
          </a:xfrm>
          <a:prstGeom prst="roundRect">
            <a:avLst/>
          </a:prstGeom>
          <a:solidFill>
            <a:srgbClr val="020814"/>
          </a:solidFill>
          <a:ln w="1524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269748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00E1FF"/>
                </a:solidFill>
                <a:latin typeface="Aptos Display"/>
                <a:glow rad="60000">
                  <a:srgbClr val="00E1FF"/>
                </a:glow>
              </a:rPr>
              <a:t>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103120"/>
            <a:ext cx="2880360" cy="1325880"/>
          </a:xfrm>
          <a:prstGeom prst="roundRect">
            <a:avLst/>
          </a:prstGeom>
          <a:solidFill>
            <a:srgbClr val="020814"/>
          </a:solidFill>
          <a:ln w="15240">
            <a:solidFill>
              <a:srgbClr val="46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2304288"/>
            <a:ext cx="269748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4682FF"/>
                </a:solidFill>
                <a:latin typeface="Aptos Display"/>
                <a:glow rad="60000">
                  <a:srgbClr val="00E1FF"/>
                </a:glow>
              </a:rPr>
              <a:t>VERIFY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103120"/>
            <a:ext cx="2880360" cy="1325880"/>
          </a:xfrm>
          <a:prstGeom prst="roundRect">
            <a:avLst/>
          </a:prstGeom>
          <a:solidFill>
            <a:srgbClr val="020814"/>
          </a:solidFill>
          <a:ln w="15240">
            <a:solidFill>
              <a:srgbClr val="F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1" y="2304288"/>
            <a:ext cx="269748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9123"/>
                </a:solidFill>
                <a:latin typeface="Aptos Display"/>
                <a:glow rad="60000">
                  <a:srgbClr val="00E1FF"/>
                </a:glow>
              </a:rPr>
              <a:t>ASSUME NOTHING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03320"/>
            <a:ext cx="10241280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5FAFF"/>
                </a:solidFill>
                <a:latin typeface="Aptos Display"/>
                <a:glow rad="60000">
                  <a:srgbClr val="00E1FF"/>
                </a:glow>
              </a:rPr>
              <a:t>CODE  →  SYSTEM  →  PHYSICS  →  REAL WORLD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84248" y="4498848"/>
            <a:ext cx="8284464" cy="1563624"/>
          </a:xfrm>
          <a:prstGeom prst="roundRect">
            <a:avLst/>
          </a:prstGeom>
          <a:solidFill>
            <a:srgbClr val="030714"/>
          </a:solidFill>
          <a:ln w="1524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4572000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0E1FF"/>
                </a:solidFill>
                <a:latin typeface="Aptos Display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3432" y="4553712"/>
            <a:ext cx="788212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TEST the new operating envelope.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010912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0E1FF"/>
                </a:solidFill>
                <a:latin typeface="Aptos Display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3432" y="4992624"/>
            <a:ext cx="788212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VERIFY assumptions at boundaries.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449824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0E1FF"/>
                </a:solidFill>
                <a:latin typeface="Aptos Display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3432" y="5431536"/>
            <a:ext cx="788212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ASSUME NOTHING about inherited behavior.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37960"/>
            <a:ext cx="27432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B4CDE1"/>
                </a:solidFill>
                <a:latin typeface="Aptos"/>
              </a:rPr>
              <a:t>WHEN CODE MEETS DESTINY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37960"/>
            <a:ext cx="52578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750" b="0">
                <a:solidFill>
                  <a:srgbClr val="B4CDE1"/>
                </a:solidFill>
                <a:latin typeface="Aptos"/>
              </a:rPr>
              <a:t>Source: ESA corrective-action plan • 11 Sep 1996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e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228600"/>
            <a:ext cx="11567160" cy="6309360"/>
          </a:xfrm>
          <a:prstGeom prst="roundRect">
            <a:avLst/>
          </a:prstGeom>
          <a:solidFill>
            <a:srgbClr val="020510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4682FF"/>
                </a:solidFill>
                <a:latin typeface="Aptos"/>
              </a:rPr>
              <a:t>07 • MODERN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052560" cy="7498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F5FAFF"/>
                </a:solidFill>
                <a:latin typeface="Aptos Display"/>
                <a:glow rad="60000">
                  <a:srgbClr val="00E1FF"/>
                </a:glow>
              </a:rPr>
              <a:t>BUILD FOR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43584"/>
            <a:ext cx="786384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4682FF"/>
                </a:solidFill>
                <a:latin typeface="Aptos"/>
              </a:rPr>
              <a:t>Today's code meets tomorrow's world.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B4CDE1"/>
                </a:solidFill>
                <a:latin typeface="Aptos"/>
              </a:rPr>
              <a:t>08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2103120" cy="32004"/>
          </a:xfrm>
          <a:prstGeom prst="rect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1783080" cy="822960"/>
          </a:xfrm>
          <a:prstGeom prst="roundRect">
            <a:avLst/>
          </a:prstGeom>
          <a:solidFill>
            <a:srgbClr val="020814"/>
          </a:solidFill>
          <a:ln w="1524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1691640" cy="32918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0E1FF"/>
                </a:solidFill>
                <a:latin typeface="Aptos Display"/>
              </a:rPr>
              <a:t>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2304" y="2267712"/>
            <a:ext cx="411480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5FAFF"/>
                </a:solidFill>
                <a:latin typeface="Aptos Display"/>
                <a:glow rad="60000">
                  <a:srgbClr val="00E1FF"/>
                </a:glow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2148840"/>
            <a:ext cx="1783080" cy="822960"/>
          </a:xfrm>
          <a:prstGeom prst="roundRect">
            <a:avLst/>
          </a:prstGeom>
          <a:solidFill>
            <a:srgbClr val="020814"/>
          </a:solidFill>
          <a:ln w="15240">
            <a:solidFill>
              <a:srgbClr val="46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2331720"/>
            <a:ext cx="1691640" cy="32918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4682FF"/>
                </a:solidFill>
                <a:latin typeface="Aptos Display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267712"/>
            <a:ext cx="411480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5FAFF"/>
                </a:solidFill>
                <a:latin typeface="Aptos Display"/>
                <a:glow rad="60000">
                  <a:srgbClr val="00E1FF"/>
                </a:glow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2148840"/>
            <a:ext cx="1783080" cy="822960"/>
          </a:xfrm>
          <a:prstGeom prst="roundRect">
            <a:avLst/>
          </a:prstGeom>
          <a:solidFill>
            <a:srgbClr val="020814"/>
          </a:solidFill>
          <a:ln w="15240">
            <a:solidFill>
              <a:srgbClr val="FF2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496" y="2331720"/>
            <a:ext cx="1691640" cy="32918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23AA"/>
                </a:solidFill>
                <a:latin typeface="Aptos Display"/>
              </a:rPr>
              <a:t>SIMULATE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67712"/>
            <a:ext cx="411480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5FAFF"/>
                </a:solidFill>
                <a:latin typeface="Aptos Display"/>
                <a:glow rad="60000">
                  <a:srgbClr val="00E1FF"/>
                </a:glow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8624" y="2148840"/>
            <a:ext cx="1783080" cy="822960"/>
          </a:xfrm>
          <a:prstGeom prst="roundRect">
            <a:avLst/>
          </a:prstGeom>
          <a:solidFill>
            <a:srgbClr val="020814"/>
          </a:solidFill>
          <a:ln w="15240">
            <a:solidFill>
              <a:srgbClr val="F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24344" y="2331720"/>
            <a:ext cx="1691640" cy="32918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9123"/>
                </a:solidFill>
                <a:latin typeface="Aptos Display"/>
              </a:rPr>
              <a:t>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267712"/>
            <a:ext cx="411480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5FAFF"/>
                </a:solidFill>
                <a:latin typeface="Aptos Display"/>
                <a:glow rad="60000">
                  <a:srgbClr val="00E1FF"/>
                </a:glow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91472" y="2148840"/>
            <a:ext cx="1783080" cy="822960"/>
          </a:xfrm>
          <a:prstGeom prst="roundRect">
            <a:avLst/>
          </a:prstGeom>
          <a:solidFill>
            <a:srgbClr val="020814"/>
          </a:solidFill>
          <a:ln w="1524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37192" y="2331720"/>
            <a:ext cx="1691640" cy="32918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0E1FF"/>
                </a:solidFill>
                <a:latin typeface="Aptos Display"/>
              </a:rPr>
              <a:t>MONITOR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337560"/>
            <a:ext cx="2971800" cy="329184"/>
          </a:xfrm>
          <a:prstGeom prst="roundRect">
            <a:avLst/>
          </a:prstGeom>
          <a:solidFill>
            <a:srgbClr val="050A1C"/>
          </a:solidFill>
          <a:ln w="15240">
            <a:solidFill>
              <a:srgbClr val="FF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3346703"/>
            <a:ext cx="2862072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2D41"/>
                </a:solidFill>
                <a:latin typeface="Aptos"/>
              </a:rPr>
              <a:t>UNKNOWN INPUT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767328"/>
            <a:ext cx="2971800" cy="329184"/>
          </a:xfrm>
          <a:prstGeom prst="roundRect">
            <a:avLst/>
          </a:prstGeom>
          <a:solidFill>
            <a:srgbClr val="050A1C"/>
          </a:solidFill>
          <a:ln w="1524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776472"/>
            <a:ext cx="2862072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0E1FF"/>
                </a:solidFill>
                <a:latin typeface="Aptos"/>
              </a:rPr>
              <a:t>SAFE FAILURE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55648" y="4498848"/>
            <a:ext cx="8695944" cy="1563624"/>
          </a:xfrm>
          <a:prstGeom prst="roundRect">
            <a:avLst/>
          </a:prstGeom>
          <a:solidFill>
            <a:srgbClr val="030714"/>
          </a:solidFill>
          <a:ln w="15240">
            <a:solidFill>
              <a:srgbClr val="46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4572000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4682FF"/>
                </a:solidFill>
                <a:latin typeface="Aptos Display"/>
              </a:rPr>
              <a:t>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4832" y="4553712"/>
            <a:ext cx="829360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Test boundaries, not just normals.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010912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4682FF"/>
                </a:solidFill>
                <a:latin typeface="Aptos Display"/>
              </a:rPr>
              <a:t>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84832" y="4992624"/>
            <a:ext cx="829360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Simulate failures before launch.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449824"/>
            <a:ext cx="228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4682FF"/>
                </a:solidFill>
                <a:latin typeface="Aptos Display"/>
              </a:rPr>
              <a:t>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2" y="5431536"/>
            <a:ext cx="829360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AFF"/>
                </a:solidFill>
                <a:latin typeface="Aptos"/>
              </a:rPr>
              <a:t>Fail safely—and observe everything.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37960"/>
            <a:ext cx="27432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B4CDE1"/>
                </a:solidFill>
                <a:latin typeface="Aptos"/>
              </a:rPr>
              <a:t>WHEN CODE MEETS DESTINY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537960"/>
            <a:ext cx="52578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750" b="0">
                <a:solidFill>
                  <a:srgbClr val="B4CDE1"/>
                </a:solidFill>
                <a:latin typeface="Aptos"/>
              </a:rPr>
              <a:t>Modern engineering synthesis • informed by ESA post-flight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aun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228600"/>
            <a:ext cx="11567160" cy="6309360"/>
          </a:xfrm>
          <a:prstGeom prst="roundRect">
            <a:avLst/>
          </a:prstGeom>
          <a:solidFill>
            <a:srgbClr val="020510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9123"/>
                </a:solidFill>
                <a:latin typeface="Aptos"/>
              </a:rPr>
              <a:t>08 • FINALE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052560" cy="7498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F5FAFF"/>
                </a:solidFill>
                <a:latin typeface="Aptos Display"/>
                <a:glow rad="60000">
                  <a:srgbClr val="00E1FF"/>
                </a:glow>
              </a:rPr>
              <a:t>WHEN CODE MEETS DESTINY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43584"/>
            <a:ext cx="786384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9123"/>
                </a:solidFill>
                <a:latin typeface="Aptos"/>
              </a:rPr>
              <a:t>Build software that survives reality.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B4CDE1"/>
                </a:solidFill>
                <a:latin typeface="Aptos"/>
              </a:rPr>
              <a:t>09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2103120" cy="32004"/>
          </a:xfrm>
          <a:prstGeom prst="rect">
            <a:avLst/>
          </a:prstGeom>
          <a:solidFill>
            <a:srgbClr val="FF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148840"/>
            <a:ext cx="8458200" cy="9601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4800" b="1">
                <a:solidFill>
                  <a:srgbClr val="00E1FF"/>
                </a:solidFill>
                <a:latin typeface="Aptos Display"/>
                <a:glow rad="60000">
                  <a:srgbClr val="00E1FF"/>
                </a:glow>
              </a:rPr>
              <a:t>INNOVATION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63240"/>
            <a:ext cx="6035040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5FAFF"/>
                </a:solidFill>
                <a:latin typeface="Aptos Display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657600"/>
            <a:ext cx="6766560" cy="11430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B4CDE1"/>
                </a:solidFill>
                <a:latin typeface="Aptos"/>
              </a:rPr>
              <a:t>Elevate stakeholder alignment.
Unlock cross-functional synergies.
Build better software.
Respect the edge cases.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5138928"/>
            <a:ext cx="8412480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9123"/>
                </a:solidFill>
                <a:latin typeface="Aptos Display"/>
                <a:glow rad="60000">
                  <a:srgbClr val="00E1FF"/>
                </a:glow>
              </a:rPr>
              <a:t>“The future belongs to those who test it.”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5806440"/>
            <a:ext cx="4892040" cy="329184"/>
          </a:xfrm>
          <a:prstGeom prst="roundRect">
            <a:avLst/>
          </a:prstGeom>
          <a:solidFill>
            <a:srgbClr val="050A1C"/>
          </a:solidFill>
          <a:ln w="15240">
            <a:solidFill>
              <a:srgbClr val="FF2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3" y="5815583"/>
            <a:ext cx="4782312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23AA"/>
                </a:solidFill>
                <a:latin typeface="Aptos"/>
              </a:rPr>
              <a:t>WHEN CODE MEETS DESTINY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37960"/>
            <a:ext cx="27432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B4CDE1"/>
                </a:solidFill>
                <a:latin typeface="Aptos"/>
              </a:rPr>
              <a:t>WHEN CODE MEETS DESTINY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537960"/>
            <a:ext cx="5257800" cy="1645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750" b="0">
                <a:solidFill>
                  <a:srgbClr val="B4CDE1"/>
                </a:solidFill>
                <a:latin typeface="Aptos"/>
              </a:rPr>
              <a:t>Historical facts: ESA/CNES • Final line is presentation wording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CODE MEETS DESTINY — Ariane 5 Flight 501</dc:title>
  <dc:subject>A cinematic 9-slide presentation on the Ariane 5 Flight 501 software failure</dc:subject>
  <dc:creator>OpenAI</dc:creator>
  <cp:keywords>Ariane 5, Ariane 4, Flight 501, software engineering, integer overflow, safety-critical systems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